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9"/>
    </p:embeddedFont>
    <p:embeddedFont>
      <p:font typeface="Arimo Bold" charset="1" panose="020B07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3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2D2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374679"/>
            <a:ext cx="9445523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Hackathon Innovation Portal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524205"/>
            <a:ext cx="9445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Problem Statement to Intelligent Evaluation System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296768"/>
            <a:ext cx="9445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C9C2C0"/>
                </a:solidFill>
                <a:latin typeface="Arimo Bold"/>
                <a:ea typeface="Arimo Bold"/>
                <a:cs typeface="Arimo Bold"/>
                <a:sym typeface="Arimo Bold"/>
              </a:rPr>
              <a:t>Tech Stack:</a:t>
            </a: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 React | Spring Boot | MySQL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2D2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27624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Platform Overview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692603"/>
            <a:ext cx="10355161" cy="6212977"/>
            <a:chOff x="0" y="0"/>
            <a:chExt cx="13806881" cy="828396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806932" cy="8283956"/>
            </a:xfrm>
            <a:custGeom>
              <a:avLst/>
              <a:gdLst/>
              <a:ahLst/>
              <a:cxnLst/>
              <a:rect r="r" b="b" t="t" l="l"/>
              <a:pathLst>
                <a:path h="8283956" w="13806932">
                  <a:moveTo>
                    <a:pt x="0" y="0"/>
                  </a:moveTo>
                  <a:lnTo>
                    <a:pt x="13806932" y="0"/>
                  </a:lnTo>
                  <a:lnTo>
                    <a:pt x="13806932" y="8283956"/>
                  </a:lnTo>
                  <a:lnTo>
                    <a:pt x="0" y="8283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" t="0" r="-14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048677" y="2341359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Main Aim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48677" y="3001118"/>
            <a:ext cx="5256457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Digitize the entire hackathon lifecycle with centralized management and intelligent evaluation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8677" y="4712198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Core Functionality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48677" y="5371948"/>
            <a:ext cx="5256457" cy="4031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Centralized problem statements repository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Structured student participation system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Automated application and evaluation pipeline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Transparent scoring and validation process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2D2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223515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Current Challenges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733675"/>
            <a:ext cx="8009934" cy="3221384"/>
            <a:chOff x="0" y="0"/>
            <a:chExt cx="10679913" cy="42951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79811" cy="4295140"/>
            </a:xfrm>
            <a:custGeom>
              <a:avLst/>
              <a:gdLst/>
              <a:ahLst/>
              <a:cxnLst/>
              <a:rect r="r" b="b" t="t" l="l"/>
              <a:pathLst>
                <a:path h="4295140" w="10679811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169" y="0"/>
                  </a:lnTo>
                  <a:cubicBezTo>
                    <a:pt x="10654537" y="0"/>
                    <a:pt x="10679811" y="25400"/>
                    <a:pt x="10679811" y="56642"/>
                  </a:cubicBezTo>
                  <a:lnTo>
                    <a:pt x="10679811" y="4238498"/>
                  </a:lnTo>
                  <a:cubicBezTo>
                    <a:pt x="10679811" y="4269867"/>
                    <a:pt x="10654411" y="4295140"/>
                    <a:pt x="10623169" y="4295140"/>
                  </a:cubicBezTo>
                  <a:lnTo>
                    <a:pt x="56642" y="4295140"/>
                  </a:lnTo>
                  <a:cubicBezTo>
                    <a:pt x="25400" y="4295140"/>
                    <a:pt x="0" y="4269740"/>
                    <a:pt x="0" y="4238498"/>
                  </a:cubicBezTo>
                  <a:close/>
                </a:path>
              </a:pathLst>
            </a:custGeom>
            <a:solidFill>
              <a:srgbClr val="37343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75759" y="3017196"/>
            <a:ext cx="850554" cy="850554"/>
            <a:chOff x="0" y="0"/>
            <a:chExt cx="1134072" cy="1134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C49F8C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509712" y="3250997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9" y="0"/>
                </a:lnTo>
                <a:lnTo>
                  <a:pt x="382639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19" r="0" b="-121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75759" y="4113162"/>
            <a:ext cx="3805828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No Centralized Platform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5759" y="4659516"/>
            <a:ext cx="7442892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MSME hackathons lack unified digital infrastructure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85684" y="2733675"/>
            <a:ext cx="8010077" cy="3221384"/>
            <a:chOff x="0" y="0"/>
            <a:chExt cx="10680103" cy="42951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80065" cy="4295140"/>
            </a:xfrm>
            <a:custGeom>
              <a:avLst/>
              <a:gdLst/>
              <a:ahLst/>
              <a:cxnLst/>
              <a:rect r="r" b="b" t="t" l="l"/>
              <a:pathLst>
                <a:path h="4295140" w="1068006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423" y="0"/>
                  </a:lnTo>
                  <a:cubicBezTo>
                    <a:pt x="10654792" y="0"/>
                    <a:pt x="10680065" y="25400"/>
                    <a:pt x="10680065" y="56642"/>
                  </a:cubicBezTo>
                  <a:lnTo>
                    <a:pt x="10680065" y="4238498"/>
                  </a:lnTo>
                  <a:cubicBezTo>
                    <a:pt x="10680065" y="4269867"/>
                    <a:pt x="10654665" y="4295140"/>
                    <a:pt x="10623423" y="4295140"/>
                  </a:cubicBezTo>
                  <a:lnTo>
                    <a:pt x="56642" y="4295140"/>
                  </a:lnTo>
                  <a:cubicBezTo>
                    <a:pt x="25400" y="4295140"/>
                    <a:pt x="0" y="4269740"/>
                    <a:pt x="0" y="4238498"/>
                  </a:cubicBezTo>
                  <a:close/>
                </a:path>
              </a:pathLst>
            </a:custGeom>
            <a:solidFill>
              <a:srgbClr val="37343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569206" y="3017196"/>
            <a:ext cx="850554" cy="850554"/>
            <a:chOff x="0" y="0"/>
            <a:chExt cx="1134072" cy="11340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C49F8C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9803159" y="3250997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569206" y="411316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Manual Tracking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69206" y="4659516"/>
            <a:ext cx="7443045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Application and evaluation done through spreadsheets and emails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238" y="6238580"/>
            <a:ext cx="8009934" cy="2767755"/>
            <a:chOff x="0" y="0"/>
            <a:chExt cx="10679913" cy="369034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79937" cy="3690366"/>
            </a:xfrm>
            <a:custGeom>
              <a:avLst/>
              <a:gdLst/>
              <a:ahLst/>
              <a:cxnLst/>
              <a:rect r="r" b="b" t="t" l="l"/>
              <a:pathLst>
                <a:path h="3690366" w="1067993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169" y="0"/>
                  </a:lnTo>
                  <a:cubicBezTo>
                    <a:pt x="10654537" y="0"/>
                    <a:pt x="10679937" y="25400"/>
                    <a:pt x="10679937" y="56769"/>
                  </a:cubicBezTo>
                  <a:lnTo>
                    <a:pt x="10679937" y="3633597"/>
                  </a:lnTo>
                  <a:cubicBezTo>
                    <a:pt x="10679937" y="3664966"/>
                    <a:pt x="10654537" y="3690366"/>
                    <a:pt x="10623169" y="3690366"/>
                  </a:cubicBezTo>
                  <a:lnTo>
                    <a:pt x="56769" y="3690366"/>
                  </a:lnTo>
                  <a:cubicBezTo>
                    <a:pt x="25400" y="3690366"/>
                    <a:pt x="0" y="3664966"/>
                    <a:pt x="0" y="3633597"/>
                  </a:cubicBezTo>
                  <a:close/>
                </a:path>
              </a:pathLst>
            </a:custGeom>
            <a:solidFill>
              <a:srgbClr val="37343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75759" y="6522091"/>
            <a:ext cx="850554" cy="850554"/>
            <a:chOff x="0" y="0"/>
            <a:chExt cx="1134072" cy="11340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C49F8C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509712" y="6755902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9" y="0"/>
                </a:lnTo>
                <a:lnTo>
                  <a:pt x="382639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7316" r="0" b="-7318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75759" y="7618066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No Transparency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5759" y="8164411"/>
            <a:ext cx="7442892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Scoring process unclear to participants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85684" y="6238580"/>
            <a:ext cx="8010077" cy="2767755"/>
            <a:chOff x="0" y="0"/>
            <a:chExt cx="10680103" cy="369034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80192" cy="3690366"/>
            </a:xfrm>
            <a:custGeom>
              <a:avLst/>
              <a:gdLst/>
              <a:ahLst/>
              <a:cxnLst/>
              <a:rect r="r" b="b" t="t" l="l"/>
              <a:pathLst>
                <a:path h="3690366" w="1068019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423" y="0"/>
                  </a:lnTo>
                  <a:cubicBezTo>
                    <a:pt x="10654792" y="0"/>
                    <a:pt x="10680192" y="25400"/>
                    <a:pt x="10680192" y="56769"/>
                  </a:cubicBezTo>
                  <a:lnTo>
                    <a:pt x="10680192" y="3633597"/>
                  </a:lnTo>
                  <a:cubicBezTo>
                    <a:pt x="10680192" y="3664966"/>
                    <a:pt x="10654792" y="3690366"/>
                    <a:pt x="10623423" y="3690366"/>
                  </a:cubicBezTo>
                  <a:lnTo>
                    <a:pt x="56769" y="3690366"/>
                  </a:lnTo>
                  <a:cubicBezTo>
                    <a:pt x="25400" y="3690366"/>
                    <a:pt x="0" y="3664966"/>
                    <a:pt x="0" y="3633597"/>
                  </a:cubicBezTo>
                  <a:close/>
                </a:path>
              </a:pathLst>
            </a:custGeom>
            <a:solidFill>
              <a:srgbClr val="37343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569206" y="6522091"/>
            <a:ext cx="850554" cy="850554"/>
            <a:chOff x="0" y="0"/>
            <a:chExt cx="1134072" cy="11340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C49F8C"/>
            </a:solidFill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9803159" y="6755902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8293" r="0" b="-18291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569206" y="7618066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High Effort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69206" y="8164411"/>
            <a:ext cx="7443045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Time-consuming manual effort for coordinators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2D2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96781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Project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002166"/>
            <a:ext cx="567033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550739"/>
            <a:ext cx="5245446" cy="38100"/>
            <a:chOff x="0" y="0"/>
            <a:chExt cx="6993928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49F8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730523"/>
            <a:ext cx="4854178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Centralize Problem Statements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276877"/>
            <a:ext cx="5245446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Unified repository for all hackathon problem statements with structured access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1206" y="3002166"/>
            <a:ext cx="567033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21206" y="3550739"/>
            <a:ext cx="5245446" cy="38100"/>
            <a:chOff x="0" y="0"/>
            <a:chExt cx="6993928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49F8C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521206" y="3730523"/>
            <a:ext cx="4121648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Role-Based Access System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21206" y="4276877"/>
            <a:ext cx="5245446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Secure authentication for students, evaluators, judges, and administrators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50163" y="3002166"/>
            <a:ext cx="567033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50163" y="3550739"/>
            <a:ext cx="5245446" cy="38100"/>
            <a:chOff x="0" y="0"/>
            <a:chExt cx="6993928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49F8C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050163" y="3730523"/>
            <a:ext cx="358675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AI-Assisted Evaluation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50163" y="4276877"/>
            <a:ext cx="5245446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Intelligent scoring combining automated analysis with manual review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6133805"/>
            <a:ext cx="567033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238" y="6682378"/>
            <a:ext cx="8009934" cy="38100"/>
            <a:chOff x="0" y="0"/>
            <a:chExt cx="10679913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49F8C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92238" y="686217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Validation Process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238" y="7408516"/>
            <a:ext cx="8009934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Clear scoring criteria and judge approval for final results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85684" y="6133805"/>
            <a:ext cx="567033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85684" y="6682378"/>
            <a:ext cx="8009934" cy="38100"/>
            <a:chOff x="0" y="0"/>
            <a:chExt cx="10679913" cy="50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49F8C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285684" y="686217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Reduce Manual Effort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85684" y="7408516"/>
            <a:ext cx="8009934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Streamlined workflow improving efficiency and reducing coordinator workload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2D2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6760" y="712441"/>
            <a:ext cx="6977510" cy="929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System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7710" y="2343741"/>
            <a:ext cx="3814172" cy="3544938"/>
            <a:chOff x="0" y="0"/>
            <a:chExt cx="5085563" cy="47265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5034788" cy="4675886"/>
            </a:xfrm>
            <a:custGeom>
              <a:avLst/>
              <a:gdLst/>
              <a:ahLst/>
              <a:cxnLst/>
              <a:rect r="r" b="b" t="t" l="l"/>
              <a:pathLst>
                <a:path h="4675886" w="5034788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4978908" y="0"/>
                  </a:lnTo>
                  <a:cubicBezTo>
                    <a:pt x="5009769" y="0"/>
                    <a:pt x="5034788" y="25019"/>
                    <a:pt x="5034788" y="55880"/>
                  </a:cubicBezTo>
                  <a:lnTo>
                    <a:pt x="5034788" y="4620006"/>
                  </a:lnTo>
                  <a:cubicBezTo>
                    <a:pt x="5034788" y="4650867"/>
                    <a:pt x="5009769" y="4675886"/>
                    <a:pt x="4978908" y="4675886"/>
                  </a:cubicBezTo>
                  <a:lnTo>
                    <a:pt x="55880" y="4675886"/>
                  </a:lnTo>
                  <a:cubicBezTo>
                    <a:pt x="25019" y="4675886"/>
                    <a:pt x="0" y="4650867"/>
                    <a:pt x="0" y="4620006"/>
                  </a:cubicBezTo>
                  <a:close/>
                </a:path>
              </a:pathLst>
            </a:custGeom>
            <a:solidFill>
              <a:srgbClr val="464342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85588" cy="4726686"/>
            </a:xfrm>
            <a:custGeom>
              <a:avLst/>
              <a:gdLst/>
              <a:ahLst/>
              <a:cxnLst/>
              <a:rect r="r" b="b" t="t" l="l"/>
              <a:pathLst>
                <a:path h="4726686" w="5085588">
                  <a:moveTo>
                    <a:pt x="0" y="81280"/>
                  </a:moveTo>
                  <a:cubicBezTo>
                    <a:pt x="0" y="36322"/>
                    <a:pt x="36449" y="0"/>
                    <a:pt x="81280" y="0"/>
                  </a:cubicBezTo>
                  <a:lnTo>
                    <a:pt x="5004308" y="0"/>
                  </a:lnTo>
                  <a:lnTo>
                    <a:pt x="5004308" y="25400"/>
                  </a:lnTo>
                  <a:lnTo>
                    <a:pt x="5004308" y="0"/>
                  </a:lnTo>
                  <a:cubicBezTo>
                    <a:pt x="5049139" y="0"/>
                    <a:pt x="5085588" y="36322"/>
                    <a:pt x="5085588" y="81280"/>
                  </a:cubicBezTo>
                  <a:lnTo>
                    <a:pt x="5060188" y="81280"/>
                  </a:lnTo>
                  <a:lnTo>
                    <a:pt x="5085588" y="81280"/>
                  </a:lnTo>
                  <a:lnTo>
                    <a:pt x="5085588" y="4645406"/>
                  </a:lnTo>
                  <a:lnTo>
                    <a:pt x="5060188" y="4645406"/>
                  </a:lnTo>
                  <a:lnTo>
                    <a:pt x="5085588" y="4645406"/>
                  </a:lnTo>
                  <a:cubicBezTo>
                    <a:pt x="5085588" y="4690237"/>
                    <a:pt x="5049139" y="4726686"/>
                    <a:pt x="5004308" y="4726686"/>
                  </a:cubicBezTo>
                  <a:lnTo>
                    <a:pt x="5004308" y="4701286"/>
                  </a:lnTo>
                  <a:lnTo>
                    <a:pt x="5004308" y="4726686"/>
                  </a:lnTo>
                  <a:lnTo>
                    <a:pt x="81280" y="4726686"/>
                  </a:lnTo>
                  <a:lnTo>
                    <a:pt x="81280" y="4701286"/>
                  </a:lnTo>
                  <a:lnTo>
                    <a:pt x="81280" y="4726686"/>
                  </a:lnTo>
                  <a:cubicBezTo>
                    <a:pt x="36449" y="4726686"/>
                    <a:pt x="0" y="4690364"/>
                    <a:pt x="0" y="4645406"/>
                  </a:cubicBezTo>
                  <a:lnTo>
                    <a:pt x="0" y="81280"/>
                  </a:lnTo>
                  <a:lnTo>
                    <a:pt x="25400" y="81280"/>
                  </a:lnTo>
                  <a:lnTo>
                    <a:pt x="0" y="81280"/>
                  </a:lnTo>
                  <a:moveTo>
                    <a:pt x="50800" y="81280"/>
                  </a:moveTo>
                  <a:lnTo>
                    <a:pt x="50800" y="4645406"/>
                  </a:lnTo>
                  <a:lnTo>
                    <a:pt x="25400" y="4645406"/>
                  </a:lnTo>
                  <a:lnTo>
                    <a:pt x="50800" y="4645406"/>
                  </a:lnTo>
                  <a:cubicBezTo>
                    <a:pt x="50800" y="4662170"/>
                    <a:pt x="64389" y="4675886"/>
                    <a:pt x="81280" y="4675886"/>
                  </a:cubicBezTo>
                  <a:lnTo>
                    <a:pt x="5004308" y="4675886"/>
                  </a:lnTo>
                  <a:cubicBezTo>
                    <a:pt x="5021199" y="4675886"/>
                    <a:pt x="5034788" y="4662297"/>
                    <a:pt x="5034788" y="4645406"/>
                  </a:cubicBezTo>
                  <a:lnTo>
                    <a:pt x="5034788" y="81280"/>
                  </a:lnTo>
                  <a:cubicBezTo>
                    <a:pt x="5034788" y="64516"/>
                    <a:pt x="5021199" y="50800"/>
                    <a:pt x="5004308" y="50800"/>
                  </a:cubicBezTo>
                  <a:lnTo>
                    <a:pt x="81280" y="50800"/>
                  </a:lnTo>
                  <a:lnTo>
                    <a:pt x="81280" y="25400"/>
                  </a:lnTo>
                  <a:lnTo>
                    <a:pt x="81280" y="50800"/>
                  </a:lnTo>
                  <a:cubicBezTo>
                    <a:pt x="64389" y="50800"/>
                    <a:pt x="50800" y="64389"/>
                    <a:pt x="50800" y="81280"/>
                  </a:cubicBezTo>
                  <a:close/>
                </a:path>
              </a:pathLst>
            </a:custGeom>
            <a:solidFill>
              <a:srgbClr val="504D4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14860" y="2400891"/>
            <a:ext cx="3699872" cy="837305"/>
            <a:chOff x="0" y="0"/>
            <a:chExt cx="4933163" cy="11164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33188" cy="1116457"/>
            </a:xfrm>
            <a:custGeom>
              <a:avLst/>
              <a:gdLst/>
              <a:ahLst/>
              <a:cxnLst/>
              <a:rect r="r" b="b" t="t" l="l"/>
              <a:pathLst>
                <a:path h="1116457" w="4933188">
                  <a:moveTo>
                    <a:pt x="0" y="0"/>
                  </a:moveTo>
                  <a:lnTo>
                    <a:pt x="4933188" y="0"/>
                  </a:lnTo>
                  <a:lnTo>
                    <a:pt x="4933188" y="1116457"/>
                  </a:lnTo>
                  <a:lnTo>
                    <a:pt x="0" y="1116457"/>
                  </a:lnTo>
                  <a:close/>
                </a:path>
              </a:pathLst>
            </a:custGeom>
            <a:solidFill>
              <a:srgbClr val="373433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655389" y="2596010"/>
            <a:ext cx="418652" cy="485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3250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3914" y="3484359"/>
            <a:ext cx="3141764" cy="4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Frontend Layer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3914" y="4128497"/>
            <a:ext cx="3141764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React.js for responsive UI/UX design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008512" y="2343741"/>
            <a:ext cx="3814172" cy="3544938"/>
            <a:chOff x="0" y="0"/>
            <a:chExt cx="5085563" cy="47265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400" y="25400"/>
              <a:ext cx="5034788" cy="4675886"/>
            </a:xfrm>
            <a:custGeom>
              <a:avLst/>
              <a:gdLst/>
              <a:ahLst/>
              <a:cxnLst/>
              <a:rect r="r" b="b" t="t" l="l"/>
              <a:pathLst>
                <a:path h="4675886" w="5034788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4978908" y="0"/>
                  </a:lnTo>
                  <a:cubicBezTo>
                    <a:pt x="5009769" y="0"/>
                    <a:pt x="5034788" y="25019"/>
                    <a:pt x="5034788" y="55880"/>
                  </a:cubicBezTo>
                  <a:lnTo>
                    <a:pt x="5034788" y="4620006"/>
                  </a:lnTo>
                  <a:cubicBezTo>
                    <a:pt x="5034788" y="4650867"/>
                    <a:pt x="5009769" y="4675886"/>
                    <a:pt x="4978908" y="4675886"/>
                  </a:cubicBezTo>
                  <a:lnTo>
                    <a:pt x="55880" y="4675886"/>
                  </a:lnTo>
                  <a:cubicBezTo>
                    <a:pt x="25019" y="4675886"/>
                    <a:pt x="0" y="4650867"/>
                    <a:pt x="0" y="4620006"/>
                  </a:cubicBezTo>
                  <a:close/>
                </a:path>
              </a:pathLst>
            </a:custGeom>
            <a:solidFill>
              <a:srgbClr val="464342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85588" cy="4726686"/>
            </a:xfrm>
            <a:custGeom>
              <a:avLst/>
              <a:gdLst/>
              <a:ahLst/>
              <a:cxnLst/>
              <a:rect r="r" b="b" t="t" l="l"/>
              <a:pathLst>
                <a:path h="4726686" w="5085588">
                  <a:moveTo>
                    <a:pt x="0" y="81280"/>
                  </a:moveTo>
                  <a:cubicBezTo>
                    <a:pt x="0" y="36322"/>
                    <a:pt x="36449" y="0"/>
                    <a:pt x="81280" y="0"/>
                  </a:cubicBezTo>
                  <a:lnTo>
                    <a:pt x="5004308" y="0"/>
                  </a:lnTo>
                  <a:lnTo>
                    <a:pt x="5004308" y="25400"/>
                  </a:lnTo>
                  <a:lnTo>
                    <a:pt x="5004308" y="0"/>
                  </a:lnTo>
                  <a:cubicBezTo>
                    <a:pt x="5049139" y="0"/>
                    <a:pt x="5085588" y="36322"/>
                    <a:pt x="5085588" y="81280"/>
                  </a:cubicBezTo>
                  <a:lnTo>
                    <a:pt x="5060188" y="81280"/>
                  </a:lnTo>
                  <a:lnTo>
                    <a:pt x="5085588" y="81280"/>
                  </a:lnTo>
                  <a:lnTo>
                    <a:pt x="5085588" y="4645406"/>
                  </a:lnTo>
                  <a:lnTo>
                    <a:pt x="5060188" y="4645406"/>
                  </a:lnTo>
                  <a:lnTo>
                    <a:pt x="5085588" y="4645406"/>
                  </a:lnTo>
                  <a:cubicBezTo>
                    <a:pt x="5085588" y="4690237"/>
                    <a:pt x="5049139" y="4726686"/>
                    <a:pt x="5004308" y="4726686"/>
                  </a:cubicBezTo>
                  <a:lnTo>
                    <a:pt x="5004308" y="4701286"/>
                  </a:lnTo>
                  <a:lnTo>
                    <a:pt x="5004308" y="4726686"/>
                  </a:lnTo>
                  <a:lnTo>
                    <a:pt x="81280" y="4726686"/>
                  </a:lnTo>
                  <a:lnTo>
                    <a:pt x="81280" y="4701286"/>
                  </a:lnTo>
                  <a:lnTo>
                    <a:pt x="81280" y="4726686"/>
                  </a:lnTo>
                  <a:cubicBezTo>
                    <a:pt x="36449" y="4726686"/>
                    <a:pt x="0" y="4690364"/>
                    <a:pt x="0" y="4645406"/>
                  </a:cubicBezTo>
                  <a:lnTo>
                    <a:pt x="0" y="81280"/>
                  </a:lnTo>
                  <a:lnTo>
                    <a:pt x="25400" y="81280"/>
                  </a:lnTo>
                  <a:lnTo>
                    <a:pt x="0" y="81280"/>
                  </a:lnTo>
                  <a:moveTo>
                    <a:pt x="50800" y="81280"/>
                  </a:moveTo>
                  <a:lnTo>
                    <a:pt x="50800" y="4645406"/>
                  </a:lnTo>
                  <a:lnTo>
                    <a:pt x="25400" y="4645406"/>
                  </a:lnTo>
                  <a:lnTo>
                    <a:pt x="50800" y="4645406"/>
                  </a:lnTo>
                  <a:cubicBezTo>
                    <a:pt x="50800" y="4662170"/>
                    <a:pt x="64389" y="4675886"/>
                    <a:pt x="81280" y="4675886"/>
                  </a:cubicBezTo>
                  <a:lnTo>
                    <a:pt x="5004308" y="4675886"/>
                  </a:lnTo>
                  <a:cubicBezTo>
                    <a:pt x="5021199" y="4675886"/>
                    <a:pt x="5034788" y="4662297"/>
                    <a:pt x="5034788" y="4645406"/>
                  </a:cubicBezTo>
                  <a:lnTo>
                    <a:pt x="5034788" y="81280"/>
                  </a:lnTo>
                  <a:cubicBezTo>
                    <a:pt x="5034788" y="64516"/>
                    <a:pt x="5021199" y="50800"/>
                    <a:pt x="5004308" y="50800"/>
                  </a:cubicBezTo>
                  <a:lnTo>
                    <a:pt x="81280" y="50800"/>
                  </a:lnTo>
                  <a:lnTo>
                    <a:pt x="81280" y="25400"/>
                  </a:lnTo>
                  <a:lnTo>
                    <a:pt x="81280" y="50800"/>
                  </a:lnTo>
                  <a:cubicBezTo>
                    <a:pt x="64389" y="50800"/>
                    <a:pt x="50800" y="64389"/>
                    <a:pt x="50800" y="81280"/>
                  </a:cubicBezTo>
                  <a:close/>
                </a:path>
              </a:pathLst>
            </a:custGeom>
            <a:solidFill>
              <a:srgbClr val="504D4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065662" y="2400891"/>
            <a:ext cx="3699872" cy="837305"/>
            <a:chOff x="0" y="0"/>
            <a:chExt cx="4933163" cy="11164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33188" cy="1116457"/>
            </a:xfrm>
            <a:custGeom>
              <a:avLst/>
              <a:gdLst/>
              <a:ahLst/>
              <a:cxnLst/>
              <a:rect r="r" b="b" t="t" l="l"/>
              <a:pathLst>
                <a:path h="1116457" w="4933188">
                  <a:moveTo>
                    <a:pt x="0" y="0"/>
                  </a:moveTo>
                  <a:lnTo>
                    <a:pt x="4933188" y="0"/>
                  </a:lnTo>
                  <a:lnTo>
                    <a:pt x="4933188" y="1116457"/>
                  </a:lnTo>
                  <a:lnTo>
                    <a:pt x="0" y="1116457"/>
                  </a:lnTo>
                  <a:close/>
                </a:path>
              </a:pathLst>
            </a:custGeom>
            <a:solidFill>
              <a:srgbClr val="37343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706191" y="2596010"/>
            <a:ext cx="418652" cy="485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3250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44716" y="3484359"/>
            <a:ext cx="3141764" cy="4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Backend API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44716" y="4128497"/>
            <a:ext cx="3141764" cy="1423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Spring Boot handling business logic and REST endpoints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57710" y="6125318"/>
            <a:ext cx="3814172" cy="3102026"/>
            <a:chOff x="0" y="0"/>
            <a:chExt cx="5085563" cy="41360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5400" y="25400"/>
              <a:ext cx="5034661" cy="4085209"/>
            </a:xfrm>
            <a:custGeom>
              <a:avLst/>
              <a:gdLst/>
              <a:ahLst/>
              <a:cxnLst/>
              <a:rect r="r" b="b" t="t" l="l"/>
              <a:pathLst>
                <a:path h="4085209" w="5034661">
                  <a:moveTo>
                    <a:pt x="0" y="55753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4978781" y="0"/>
                  </a:lnTo>
                  <a:cubicBezTo>
                    <a:pt x="5009642" y="0"/>
                    <a:pt x="5034661" y="25019"/>
                    <a:pt x="5034661" y="55753"/>
                  </a:cubicBezTo>
                  <a:lnTo>
                    <a:pt x="5034661" y="4029456"/>
                  </a:lnTo>
                  <a:cubicBezTo>
                    <a:pt x="5034661" y="4060317"/>
                    <a:pt x="5009642" y="4085209"/>
                    <a:pt x="4978781" y="4085209"/>
                  </a:cubicBezTo>
                  <a:lnTo>
                    <a:pt x="55880" y="4085209"/>
                  </a:lnTo>
                  <a:cubicBezTo>
                    <a:pt x="25019" y="4085209"/>
                    <a:pt x="0" y="4060190"/>
                    <a:pt x="0" y="4029456"/>
                  </a:cubicBezTo>
                  <a:close/>
                </a:path>
              </a:pathLst>
            </a:custGeom>
            <a:solidFill>
              <a:srgbClr val="464342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85461" cy="4136009"/>
            </a:xfrm>
            <a:custGeom>
              <a:avLst/>
              <a:gdLst/>
              <a:ahLst/>
              <a:cxnLst/>
              <a:rect r="r" b="b" t="t" l="l"/>
              <a:pathLst>
                <a:path h="4136009" w="5085461">
                  <a:moveTo>
                    <a:pt x="0" y="81153"/>
                  </a:moveTo>
                  <a:cubicBezTo>
                    <a:pt x="0" y="36322"/>
                    <a:pt x="36449" y="0"/>
                    <a:pt x="81280" y="0"/>
                  </a:cubicBezTo>
                  <a:lnTo>
                    <a:pt x="5004181" y="0"/>
                  </a:lnTo>
                  <a:lnTo>
                    <a:pt x="5004181" y="25400"/>
                  </a:lnTo>
                  <a:lnTo>
                    <a:pt x="5004181" y="0"/>
                  </a:lnTo>
                  <a:cubicBezTo>
                    <a:pt x="5049012" y="0"/>
                    <a:pt x="5085461" y="36322"/>
                    <a:pt x="5085461" y="81153"/>
                  </a:cubicBezTo>
                  <a:lnTo>
                    <a:pt x="5060061" y="81153"/>
                  </a:lnTo>
                  <a:lnTo>
                    <a:pt x="5085461" y="81153"/>
                  </a:lnTo>
                  <a:lnTo>
                    <a:pt x="5085461" y="4054856"/>
                  </a:lnTo>
                  <a:lnTo>
                    <a:pt x="5060061" y="4054856"/>
                  </a:lnTo>
                  <a:lnTo>
                    <a:pt x="5085461" y="4054856"/>
                  </a:lnTo>
                  <a:cubicBezTo>
                    <a:pt x="5085461" y="4099814"/>
                    <a:pt x="5049012" y="4136009"/>
                    <a:pt x="5004181" y="4136009"/>
                  </a:cubicBezTo>
                  <a:lnTo>
                    <a:pt x="5004181" y="4110609"/>
                  </a:lnTo>
                  <a:lnTo>
                    <a:pt x="5004181" y="4136009"/>
                  </a:lnTo>
                  <a:lnTo>
                    <a:pt x="81280" y="4136009"/>
                  </a:lnTo>
                  <a:lnTo>
                    <a:pt x="81280" y="4110609"/>
                  </a:lnTo>
                  <a:lnTo>
                    <a:pt x="81280" y="4136009"/>
                  </a:lnTo>
                  <a:cubicBezTo>
                    <a:pt x="36449" y="4136009"/>
                    <a:pt x="0" y="4099687"/>
                    <a:pt x="0" y="4054856"/>
                  </a:cubicBezTo>
                  <a:lnTo>
                    <a:pt x="0" y="81153"/>
                  </a:lnTo>
                  <a:lnTo>
                    <a:pt x="25400" y="81153"/>
                  </a:lnTo>
                  <a:lnTo>
                    <a:pt x="0" y="81153"/>
                  </a:lnTo>
                  <a:moveTo>
                    <a:pt x="50800" y="81153"/>
                  </a:moveTo>
                  <a:lnTo>
                    <a:pt x="50800" y="4054856"/>
                  </a:lnTo>
                  <a:lnTo>
                    <a:pt x="25400" y="4054856"/>
                  </a:lnTo>
                  <a:lnTo>
                    <a:pt x="50800" y="4054856"/>
                  </a:lnTo>
                  <a:cubicBezTo>
                    <a:pt x="50800" y="4071620"/>
                    <a:pt x="64389" y="4085209"/>
                    <a:pt x="81280" y="4085209"/>
                  </a:cubicBezTo>
                  <a:lnTo>
                    <a:pt x="5004181" y="4085209"/>
                  </a:lnTo>
                  <a:cubicBezTo>
                    <a:pt x="5021072" y="4085209"/>
                    <a:pt x="5034661" y="4071493"/>
                    <a:pt x="5034661" y="4054856"/>
                  </a:cubicBezTo>
                  <a:lnTo>
                    <a:pt x="5034661" y="81153"/>
                  </a:lnTo>
                  <a:cubicBezTo>
                    <a:pt x="5034661" y="64389"/>
                    <a:pt x="5021072" y="50800"/>
                    <a:pt x="5004181" y="50800"/>
                  </a:cubicBezTo>
                  <a:lnTo>
                    <a:pt x="81280" y="50800"/>
                  </a:lnTo>
                  <a:lnTo>
                    <a:pt x="81280" y="25400"/>
                  </a:lnTo>
                  <a:lnTo>
                    <a:pt x="81280" y="50800"/>
                  </a:lnTo>
                  <a:cubicBezTo>
                    <a:pt x="64389" y="50800"/>
                    <a:pt x="50800" y="64516"/>
                    <a:pt x="50800" y="81153"/>
                  </a:cubicBezTo>
                  <a:close/>
                </a:path>
              </a:pathLst>
            </a:custGeom>
            <a:solidFill>
              <a:srgbClr val="504D4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14860" y="6182468"/>
            <a:ext cx="3699872" cy="837305"/>
            <a:chOff x="0" y="0"/>
            <a:chExt cx="4933163" cy="111640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33188" cy="1116457"/>
            </a:xfrm>
            <a:custGeom>
              <a:avLst/>
              <a:gdLst/>
              <a:ahLst/>
              <a:cxnLst/>
              <a:rect r="r" b="b" t="t" l="l"/>
              <a:pathLst>
                <a:path h="1116457" w="4933188">
                  <a:moveTo>
                    <a:pt x="0" y="0"/>
                  </a:moveTo>
                  <a:lnTo>
                    <a:pt x="4933188" y="0"/>
                  </a:lnTo>
                  <a:lnTo>
                    <a:pt x="4933188" y="1116457"/>
                  </a:lnTo>
                  <a:lnTo>
                    <a:pt x="0" y="1116457"/>
                  </a:lnTo>
                  <a:close/>
                </a:path>
              </a:pathLst>
            </a:custGeom>
            <a:solidFill>
              <a:srgbClr val="373433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655389" y="6377578"/>
            <a:ext cx="418652" cy="485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3250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93914" y="7265937"/>
            <a:ext cx="3141764" cy="4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Database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93914" y="7910065"/>
            <a:ext cx="3141764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MySQL for structured data storage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008512" y="6125318"/>
            <a:ext cx="3814172" cy="3102026"/>
            <a:chOff x="0" y="0"/>
            <a:chExt cx="5085563" cy="41360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25400" y="25400"/>
              <a:ext cx="5034661" cy="4085209"/>
            </a:xfrm>
            <a:custGeom>
              <a:avLst/>
              <a:gdLst/>
              <a:ahLst/>
              <a:cxnLst/>
              <a:rect r="r" b="b" t="t" l="l"/>
              <a:pathLst>
                <a:path h="4085209" w="5034661">
                  <a:moveTo>
                    <a:pt x="0" y="55753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4978781" y="0"/>
                  </a:lnTo>
                  <a:cubicBezTo>
                    <a:pt x="5009642" y="0"/>
                    <a:pt x="5034661" y="25019"/>
                    <a:pt x="5034661" y="55753"/>
                  </a:cubicBezTo>
                  <a:lnTo>
                    <a:pt x="5034661" y="4029456"/>
                  </a:lnTo>
                  <a:cubicBezTo>
                    <a:pt x="5034661" y="4060317"/>
                    <a:pt x="5009642" y="4085209"/>
                    <a:pt x="4978781" y="4085209"/>
                  </a:cubicBezTo>
                  <a:lnTo>
                    <a:pt x="55880" y="4085209"/>
                  </a:lnTo>
                  <a:cubicBezTo>
                    <a:pt x="25019" y="4085209"/>
                    <a:pt x="0" y="4060190"/>
                    <a:pt x="0" y="4029456"/>
                  </a:cubicBezTo>
                  <a:close/>
                </a:path>
              </a:pathLst>
            </a:custGeom>
            <a:solidFill>
              <a:srgbClr val="464342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85461" cy="4136009"/>
            </a:xfrm>
            <a:custGeom>
              <a:avLst/>
              <a:gdLst/>
              <a:ahLst/>
              <a:cxnLst/>
              <a:rect r="r" b="b" t="t" l="l"/>
              <a:pathLst>
                <a:path h="4136009" w="5085461">
                  <a:moveTo>
                    <a:pt x="0" y="81153"/>
                  </a:moveTo>
                  <a:cubicBezTo>
                    <a:pt x="0" y="36322"/>
                    <a:pt x="36449" y="0"/>
                    <a:pt x="81280" y="0"/>
                  </a:cubicBezTo>
                  <a:lnTo>
                    <a:pt x="5004181" y="0"/>
                  </a:lnTo>
                  <a:lnTo>
                    <a:pt x="5004181" y="25400"/>
                  </a:lnTo>
                  <a:lnTo>
                    <a:pt x="5004181" y="0"/>
                  </a:lnTo>
                  <a:cubicBezTo>
                    <a:pt x="5049012" y="0"/>
                    <a:pt x="5085461" y="36322"/>
                    <a:pt x="5085461" y="81153"/>
                  </a:cubicBezTo>
                  <a:lnTo>
                    <a:pt x="5060061" y="81153"/>
                  </a:lnTo>
                  <a:lnTo>
                    <a:pt x="5085461" y="81153"/>
                  </a:lnTo>
                  <a:lnTo>
                    <a:pt x="5085461" y="4054856"/>
                  </a:lnTo>
                  <a:lnTo>
                    <a:pt x="5060061" y="4054856"/>
                  </a:lnTo>
                  <a:lnTo>
                    <a:pt x="5085461" y="4054856"/>
                  </a:lnTo>
                  <a:cubicBezTo>
                    <a:pt x="5085461" y="4099814"/>
                    <a:pt x="5049012" y="4136009"/>
                    <a:pt x="5004181" y="4136009"/>
                  </a:cubicBezTo>
                  <a:lnTo>
                    <a:pt x="5004181" y="4110609"/>
                  </a:lnTo>
                  <a:lnTo>
                    <a:pt x="5004181" y="4136009"/>
                  </a:lnTo>
                  <a:lnTo>
                    <a:pt x="81280" y="4136009"/>
                  </a:lnTo>
                  <a:lnTo>
                    <a:pt x="81280" y="4110609"/>
                  </a:lnTo>
                  <a:lnTo>
                    <a:pt x="81280" y="4136009"/>
                  </a:lnTo>
                  <a:cubicBezTo>
                    <a:pt x="36449" y="4136009"/>
                    <a:pt x="0" y="4099687"/>
                    <a:pt x="0" y="4054856"/>
                  </a:cubicBezTo>
                  <a:lnTo>
                    <a:pt x="0" y="81153"/>
                  </a:lnTo>
                  <a:lnTo>
                    <a:pt x="25400" y="81153"/>
                  </a:lnTo>
                  <a:lnTo>
                    <a:pt x="0" y="81153"/>
                  </a:lnTo>
                  <a:moveTo>
                    <a:pt x="50800" y="81153"/>
                  </a:moveTo>
                  <a:lnTo>
                    <a:pt x="50800" y="4054856"/>
                  </a:lnTo>
                  <a:lnTo>
                    <a:pt x="25400" y="4054856"/>
                  </a:lnTo>
                  <a:lnTo>
                    <a:pt x="50800" y="4054856"/>
                  </a:lnTo>
                  <a:cubicBezTo>
                    <a:pt x="50800" y="4071620"/>
                    <a:pt x="64389" y="4085209"/>
                    <a:pt x="81280" y="4085209"/>
                  </a:cubicBezTo>
                  <a:lnTo>
                    <a:pt x="5004181" y="4085209"/>
                  </a:lnTo>
                  <a:cubicBezTo>
                    <a:pt x="5021072" y="4085209"/>
                    <a:pt x="5034661" y="4071493"/>
                    <a:pt x="5034661" y="4054856"/>
                  </a:cubicBezTo>
                  <a:lnTo>
                    <a:pt x="5034661" y="81153"/>
                  </a:lnTo>
                  <a:cubicBezTo>
                    <a:pt x="5034661" y="64389"/>
                    <a:pt x="5021072" y="50800"/>
                    <a:pt x="5004181" y="50800"/>
                  </a:cubicBezTo>
                  <a:lnTo>
                    <a:pt x="81280" y="50800"/>
                  </a:lnTo>
                  <a:lnTo>
                    <a:pt x="81280" y="25400"/>
                  </a:lnTo>
                  <a:lnTo>
                    <a:pt x="81280" y="50800"/>
                  </a:lnTo>
                  <a:cubicBezTo>
                    <a:pt x="64389" y="50800"/>
                    <a:pt x="50800" y="64516"/>
                    <a:pt x="50800" y="81153"/>
                  </a:cubicBezTo>
                  <a:close/>
                </a:path>
              </a:pathLst>
            </a:custGeom>
            <a:solidFill>
              <a:srgbClr val="504D4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065662" y="6182468"/>
            <a:ext cx="3699872" cy="837305"/>
            <a:chOff x="0" y="0"/>
            <a:chExt cx="4933163" cy="111640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933188" cy="1116457"/>
            </a:xfrm>
            <a:custGeom>
              <a:avLst/>
              <a:gdLst/>
              <a:ahLst/>
              <a:cxnLst/>
              <a:rect r="r" b="b" t="t" l="l"/>
              <a:pathLst>
                <a:path h="1116457" w="4933188">
                  <a:moveTo>
                    <a:pt x="0" y="0"/>
                  </a:moveTo>
                  <a:lnTo>
                    <a:pt x="4933188" y="0"/>
                  </a:lnTo>
                  <a:lnTo>
                    <a:pt x="4933188" y="1116457"/>
                  </a:lnTo>
                  <a:lnTo>
                    <a:pt x="0" y="1116457"/>
                  </a:lnTo>
                  <a:close/>
                </a:path>
              </a:pathLst>
            </a:custGeom>
            <a:solidFill>
              <a:srgbClr val="373433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6706191" y="6377578"/>
            <a:ext cx="418652" cy="485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3250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344716" y="7265937"/>
            <a:ext cx="3141764" cy="4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Communication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344716" y="7910065"/>
            <a:ext cx="3141764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REST API with JSON data exchange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493891" y="2870892"/>
            <a:ext cx="7826873" cy="4696120"/>
            <a:chOff x="0" y="0"/>
            <a:chExt cx="10435831" cy="6261494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10435844" cy="6261481"/>
            </a:xfrm>
            <a:custGeom>
              <a:avLst/>
              <a:gdLst/>
              <a:ahLst/>
              <a:cxnLst/>
              <a:rect r="r" b="b" t="t" l="l"/>
              <a:pathLst>
                <a:path h="6261481" w="10435844">
                  <a:moveTo>
                    <a:pt x="0" y="0"/>
                  </a:moveTo>
                  <a:lnTo>
                    <a:pt x="10435844" y="0"/>
                  </a:lnTo>
                  <a:lnTo>
                    <a:pt x="10435844" y="6261481"/>
                  </a:lnTo>
                  <a:lnTo>
                    <a:pt x="0" y="6261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" t="0" r="-20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493891" y="7780734"/>
            <a:ext cx="7826873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 b="true">
                <a:solidFill>
                  <a:srgbClr val="C9C2C0"/>
                </a:solidFill>
                <a:latin typeface="Arimo Bold"/>
                <a:ea typeface="Arimo Bold"/>
                <a:cs typeface="Arimo Bold"/>
                <a:sym typeface="Arimo Bold"/>
              </a:rPr>
              <a:t>Infrastructure:</a:t>
            </a: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 Windows/Linux OS, GitHub version control, Chrome browser support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2D2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41029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Role-Based System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238" y="2351189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999" r="0" b="-18001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2238" y="337616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Student / Team Lead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922509"/>
            <a:ext cx="7974511" cy="166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Browse problem statements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Submit applications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View scores and feedback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321108" y="2351189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5999" t="0" r="-600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321108" y="337616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Evaluator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21108" y="3922509"/>
            <a:ext cx="7974654" cy="166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Review submissions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Conduct manual evaluation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Generate scores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92238" y="6153445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666" r="0" b="-666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92238" y="7178431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Judge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7724775"/>
            <a:ext cx="7974511" cy="166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Oversee evaluation process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Validate final scores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Approve results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321108" y="6153445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321108" y="7178431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Administrator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21108" y="7724775"/>
            <a:ext cx="7974654" cy="166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Manage users and roles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Configure problem statements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Monitor system activity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2D2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83739" y="688772"/>
            <a:ext cx="6312989" cy="83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7"/>
              </a:lnSpc>
            </a:pPr>
            <a:r>
              <a:rPr lang="en-US" sz="4937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Key Features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83739" y="1975247"/>
            <a:ext cx="1262510" cy="1515066"/>
            <a:chOff x="0" y="0"/>
            <a:chExt cx="1683347" cy="202008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683385" cy="2020062"/>
            </a:xfrm>
            <a:custGeom>
              <a:avLst/>
              <a:gdLst/>
              <a:ahLst/>
              <a:cxnLst/>
              <a:rect r="r" b="b" t="t" l="l"/>
              <a:pathLst>
                <a:path h="2020062" w="1683385">
                  <a:moveTo>
                    <a:pt x="0" y="0"/>
                  </a:moveTo>
                  <a:lnTo>
                    <a:pt x="1683385" y="0"/>
                  </a:lnTo>
                  <a:lnTo>
                    <a:pt x="1683385" y="2020062"/>
                  </a:lnTo>
                  <a:lnTo>
                    <a:pt x="0" y="2020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0" t="0" r="-187" b="-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371134" y="2208609"/>
            <a:ext cx="3741239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Problem Statement Listing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1134" y="2671315"/>
            <a:ext cx="15033127" cy="46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Browse all available hackathon challenges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83739" y="3490322"/>
            <a:ext cx="1262510" cy="1515066"/>
            <a:chOff x="0" y="0"/>
            <a:chExt cx="1683347" cy="202008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683385" cy="2020062"/>
            </a:xfrm>
            <a:custGeom>
              <a:avLst/>
              <a:gdLst/>
              <a:ahLst/>
              <a:cxnLst/>
              <a:rect r="r" b="b" t="t" l="l"/>
              <a:pathLst>
                <a:path h="2020062" w="1683385">
                  <a:moveTo>
                    <a:pt x="0" y="0"/>
                  </a:moveTo>
                  <a:lnTo>
                    <a:pt x="1683385" y="0"/>
                  </a:lnTo>
                  <a:lnTo>
                    <a:pt x="1683385" y="2020062"/>
                  </a:lnTo>
                  <a:lnTo>
                    <a:pt x="0" y="2020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90" t="0" r="-187" b="-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371134" y="3723684"/>
            <a:ext cx="3156499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Smart Filters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1134" y="4186390"/>
            <a:ext cx="15033127" cy="46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Search by category, theme, and keywords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83739" y="5005388"/>
            <a:ext cx="1262510" cy="1515066"/>
            <a:chOff x="0" y="0"/>
            <a:chExt cx="1683347" cy="2020087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683385" cy="2020062"/>
            </a:xfrm>
            <a:custGeom>
              <a:avLst/>
              <a:gdLst/>
              <a:ahLst/>
              <a:cxnLst/>
              <a:rect r="r" b="b" t="t" l="l"/>
              <a:pathLst>
                <a:path h="2020062" w="1683385">
                  <a:moveTo>
                    <a:pt x="0" y="0"/>
                  </a:moveTo>
                  <a:lnTo>
                    <a:pt x="1683385" y="0"/>
                  </a:lnTo>
                  <a:lnTo>
                    <a:pt x="1683385" y="2020062"/>
                  </a:lnTo>
                  <a:lnTo>
                    <a:pt x="0" y="2020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0" t="0" r="-187" b="-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371134" y="5238750"/>
            <a:ext cx="3156499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Secure Login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71134" y="5701455"/>
            <a:ext cx="15033127" cy="46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Role-based authentication system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83739" y="6520453"/>
            <a:ext cx="1262510" cy="1515066"/>
            <a:chOff x="0" y="0"/>
            <a:chExt cx="1683347" cy="2020087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683385" cy="2020062"/>
            </a:xfrm>
            <a:custGeom>
              <a:avLst/>
              <a:gdLst/>
              <a:ahLst/>
              <a:cxnLst/>
              <a:rect r="r" b="b" t="t" l="l"/>
              <a:pathLst>
                <a:path h="2020062" w="1683385">
                  <a:moveTo>
                    <a:pt x="0" y="0"/>
                  </a:moveTo>
                  <a:lnTo>
                    <a:pt x="1683385" y="0"/>
                  </a:lnTo>
                  <a:lnTo>
                    <a:pt x="1683385" y="2020062"/>
                  </a:lnTo>
                  <a:lnTo>
                    <a:pt x="0" y="2020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" t="0" r="-187" b="-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371134" y="6753816"/>
            <a:ext cx="3156499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AI Evaluation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71134" y="7216531"/>
            <a:ext cx="15033127" cy="46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Automated scoring with manual review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83739" y="8035528"/>
            <a:ext cx="1262510" cy="1515066"/>
            <a:chOff x="0" y="0"/>
            <a:chExt cx="1683347" cy="2020087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683385" cy="2020062"/>
            </a:xfrm>
            <a:custGeom>
              <a:avLst/>
              <a:gdLst/>
              <a:ahLst/>
              <a:cxnLst/>
              <a:rect r="r" b="b" t="t" l="l"/>
              <a:pathLst>
                <a:path h="2020062" w="1683385">
                  <a:moveTo>
                    <a:pt x="0" y="0"/>
                  </a:moveTo>
                  <a:lnTo>
                    <a:pt x="1683385" y="0"/>
                  </a:lnTo>
                  <a:lnTo>
                    <a:pt x="1683385" y="2020062"/>
                  </a:lnTo>
                  <a:lnTo>
                    <a:pt x="0" y="2020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0" t="0" r="-187" b="-1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371134" y="8268891"/>
            <a:ext cx="3156499" cy="41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Dashboard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71134" y="8731596"/>
            <a:ext cx="15033127" cy="46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Real-time application tracking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2D2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398832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System Workflow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53280" y="2908992"/>
            <a:ext cx="15781287" cy="5921873"/>
            <a:chOff x="0" y="0"/>
            <a:chExt cx="21041716" cy="789583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041740" cy="7895844"/>
            </a:xfrm>
            <a:custGeom>
              <a:avLst/>
              <a:gdLst/>
              <a:ahLst/>
              <a:cxnLst/>
              <a:rect r="r" b="b" t="t" l="l"/>
              <a:pathLst>
                <a:path h="7895844" w="21041740">
                  <a:moveTo>
                    <a:pt x="0" y="0"/>
                  </a:moveTo>
                  <a:lnTo>
                    <a:pt x="21041740" y="0"/>
                  </a:lnTo>
                  <a:lnTo>
                    <a:pt x="21041740" y="7895844"/>
                  </a:lnTo>
                  <a:lnTo>
                    <a:pt x="0" y="7895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" r="0" b="-17"/>
              </a:stretch>
            </a:blipFill>
          </p:spPr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14730679" y="4417400"/>
            <a:ext cx="815169" cy="815169"/>
          </a:xfrm>
          <a:custGeom>
            <a:avLst/>
            <a:gdLst/>
            <a:ahLst/>
            <a:cxnLst/>
            <a:rect r="r" b="b" t="t" l="l"/>
            <a:pathLst>
              <a:path h="815169" w="815169">
                <a:moveTo>
                  <a:pt x="0" y="0"/>
                </a:moveTo>
                <a:lnTo>
                  <a:pt x="815169" y="0"/>
                </a:lnTo>
                <a:lnTo>
                  <a:pt x="815169" y="815168"/>
                </a:lnTo>
                <a:lnTo>
                  <a:pt x="0" y="815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487" r="0" b="-348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004417" y="7374226"/>
            <a:ext cx="2380288" cy="47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874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Submit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1746401" y="4418933"/>
            <a:ext cx="815169" cy="815169"/>
          </a:xfrm>
          <a:custGeom>
            <a:avLst/>
            <a:gdLst/>
            <a:ahLst/>
            <a:cxnLst/>
            <a:rect r="r" b="b" t="t" l="l"/>
            <a:pathLst>
              <a:path h="815169" w="815169">
                <a:moveTo>
                  <a:pt x="0" y="0"/>
                </a:moveTo>
                <a:lnTo>
                  <a:pt x="815169" y="0"/>
                </a:lnTo>
                <a:lnTo>
                  <a:pt x="815169" y="815169"/>
                </a:lnTo>
                <a:lnTo>
                  <a:pt x="0" y="815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651" t="0" r="-465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004594" y="7144960"/>
            <a:ext cx="2380288" cy="936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874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Login Redirect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8762886" y="4418933"/>
            <a:ext cx="815169" cy="815169"/>
          </a:xfrm>
          <a:custGeom>
            <a:avLst/>
            <a:gdLst/>
            <a:ahLst/>
            <a:cxnLst/>
            <a:rect r="r" b="b" t="t" l="l"/>
            <a:pathLst>
              <a:path h="815169" w="815169">
                <a:moveTo>
                  <a:pt x="0" y="0"/>
                </a:moveTo>
                <a:lnTo>
                  <a:pt x="815168" y="0"/>
                </a:lnTo>
                <a:lnTo>
                  <a:pt x="815168" y="815169"/>
                </a:lnTo>
                <a:lnTo>
                  <a:pt x="0" y="8151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1046" r="0" b="-11046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021079" y="7374226"/>
            <a:ext cx="2380288" cy="47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874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Click Apply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5779370" y="4418933"/>
            <a:ext cx="815169" cy="815169"/>
          </a:xfrm>
          <a:custGeom>
            <a:avLst/>
            <a:gdLst/>
            <a:ahLst/>
            <a:cxnLst/>
            <a:rect r="r" b="b" t="t" l="l"/>
            <a:pathLst>
              <a:path h="815169" w="815169">
                <a:moveTo>
                  <a:pt x="0" y="0"/>
                </a:moveTo>
                <a:lnTo>
                  <a:pt x="815168" y="0"/>
                </a:lnTo>
                <a:lnTo>
                  <a:pt x="815168" y="815169"/>
                </a:lnTo>
                <a:lnTo>
                  <a:pt x="0" y="8151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813" t="0" r="-30813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037563" y="7374226"/>
            <a:ext cx="2380288" cy="47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874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User View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2779547" y="4418933"/>
            <a:ext cx="815169" cy="815169"/>
          </a:xfrm>
          <a:custGeom>
            <a:avLst/>
            <a:gdLst/>
            <a:ahLst/>
            <a:cxnLst/>
            <a:rect r="r" b="b" t="t" l="l"/>
            <a:pathLst>
              <a:path h="815169" w="815169">
                <a:moveTo>
                  <a:pt x="0" y="0"/>
                </a:moveTo>
                <a:lnTo>
                  <a:pt x="815169" y="0"/>
                </a:lnTo>
                <a:lnTo>
                  <a:pt x="815169" y="815169"/>
                </a:lnTo>
                <a:lnTo>
                  <a:pt x="0" y="8151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11046" r="0" b="-11046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988830" y="7374226"/>
            <a:ext cx="2380288" cy="47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874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Problem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2D2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61282" y="699935"/>
            <a:ext cx="6866782" cy="91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Live Demo Overview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61282" y="3928910"/>
            <a:ext cx="6144073" cy="3686327"/>
            <a:chOff x="0" y="0"/>
            <a:chExt cx="8192097" cy="491510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8192135" cy="4915154"/>
            </a:xfrm>
            <a:custGeom>
              <a:avLst/>
              <a:gdLst/>
              <a:ahLst/>
              <a:cxnLst/>
              <a:rect r="r" b="b" t="t" l="l"/>
              <a:pathLst>
                <a:path h="4915154" w="8192135">
                  <a:moveTo>
                    <a:pt x="0" y="0"/>
                  </a:moveTo>
                  <a:lnTo>
                    <a:pt x="8192135" y="0"/>
                  </a:lnTo>
                  <a:lnTo>
                    <a:pt x="8192135" y="4915154"/>
                  </a:lnTo>
                  <a:lnTo>
                    <a:pt x="0" y="4915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784897" y="2313680"/>
            <a:ext cx="617934" cy="617934"/>
            <a:chOff x="0" y="0"/>
            <a:chExt cx="823912" cy="8239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3976" cy="823976"/>
            </a:xfrm>
            <a:custGeom>
              <a:avLst/>
              <a:gdLst/>
              <a:ahLst/>
              <a:cxnLst/>
              <a:rect r="r" b="b" t="t" l="l"/>
              <a:pathLst>
                <a:path h="823976" w="823976">
                  <a:moveTo>
                    <a:pt x="0" y="54991"/>
                  </a:moveTo>
                  <a:cubicBezTo>
                    <a:pt x="0" y="24638"/>
                    <a:pt x="24638" y="0"/>
                    <a:pt x="54991" y="0"/>
                  </a:cubicBezTo>
                  <a:lnTo>
                    <a:pt x="768985" y="0"/>
                  </a:lnTo>
                  <a:cubicBezTo>
                    <a:pt x="799338" y="0"/>
                    <a:pt x="823976" y="24638"/>
                    <a:pt x="823976" y="54991"/>
                  </a:cubicBezTo>
                  <a:lnTo>
                    <a:pt x="823976" y="768985"/>
                  </a:lnTo>
                  <a:cubicBezTo>
                    <a:pt x="823976" y="799338"/>
                    <a:pt x="799338" y="823976"/>
                    <a:pt x="768985" y="823976"/>
                  </a:cubicBezTo>
                  <a:lnTo>
                    <a:pt x="54991" y="823976"/>
                  </a:lnTo>
                  <a:cubicBezTo>
                    <a:pt x="24638" y="823976"/>
                    <a:pt x="0" y="799338"/>
                    <a:pt x="0" y="768985"/>
                  </a:cubicBezTo>
                  <a:close/>
                </a:path>
              </a:pathLst>
            </a:custGeom>
            <a:solidFill>
              <a:srgbClr val="373433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887891" y="2403272"/>
            <a:ext cx="411956" cy="47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3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68788" y="2379459"/>
            <a:ext cx="3433315" cy="45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Portal Access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68788" y="3017339"/>
            <a:ext cx="8667302" cy="51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Open platform and navigate problem listings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784897" y="4067766"/>
            <a:ext cx="617934" cy="617934"/>
            <a:chOff x="0" y="0"/>
            <a:chExt cx="823912" cy="8239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3976" cy="823976"/>
            </a:xfrm>
            <a:custGeom>
              <a:avLst/>
              <a:gdLst/>
              <a:ahLst/>
              <a:cxnLst/>
              <a:rect r="r" b="b" t="t" l="l"/>
              <a:pathLst>
                <a:path h="823976" w="823976">
                  <a:moveTo>
                    <a:pt x="0" y="54991"/>
                  </a:moveTo>
                  <a:cubicBezTo>
                    <a:pt x="0" y="24638"/>
                    <a:pt x="24638" y="0"/>
                    <a:pt x="54991" y="0"/>
                  </a:cubicBezTo>
                  <a:lnTo>
                    <a:pt x="768985" y="0"/>
                  </a:lnTo>
                  <a:cubicBezTo>
                    <a:pt x="799338" y="0"/>
                    <a:pt x="823976" y="24638"/>
                    <a:pt x="823976" y="54991"/>
                  </a:cubicBezTo>
                  <a:lnTo>
                    <a:pt x="823976" y="768985"/>
                  </a:lnTo>
                  <a:cubicBezTo>
                    <a:pt x="823976" y="799338"/>
                    <a:pt x="799338" y="823976"/>
                    <a:pt x="768985" y="823976"/>
                  </a:cubicBezTo>
                  <a:lnTo>
                    <a:pt x="54991" y="823976"/>
                  </a:lnTo>
                  <a:cubicBezTo>
                    <a:pt x="24638" y="823976"/>
                    <a:pt x="0" y="799338"/>
                    <a:pt x="0" y="768985"/>
                  </a:cubicBezTo>
                  <a:close/>
                </a:path>
              </a:pathLst>
            </a:custGeom>
            <a:solidFill>
              <a:srgbClr val="373433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887891" y="4157367"/>
            <a:ext cx="411956" cy="47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3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668788" y="4133555"/>
            <a:ext cx="3433315" cy="45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Application Flow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68788" y="4771434"/>
            <a:ext cx="8667302" cy="951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Click apply, experience login redirection, submit application as team lead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784897" y="6254506"/>
            <a:ext cx="617934" cy="617934"/>
            <a:chOff x="0" y="0"/>
            <a:chExt cx="823912" cy="8239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23976" cy="823976"/>
            </a:xfrm>
            <a:custGeom>
              <a:avLst/>
              <a:gdLst/>
              <a:ahLst/>
              <a:cxnLst/>
              <a:rect r="r" b="b" t="t" l="l"/>
              <a:pathLst>
                <a:path h="823976" w="823976">
                  <a:moveTo>
                    <a:pt x="0" y="54991"/>
                  </a:moveTo>
                  <a:cubicBezTo>
                    <a:pt x="0" y="24638"/>
                    <a:pt x="24638" y="0"/>
                    <a:pt x="54991" y="0"/>
                  </a:cubicBezTo>
                  <a:lnTo>
                    <a:pt x="768985" y="0"/>
                  </a:lnTo>
                  <a:cubicBezTo>
                    <a:pt x="799338" y="0"/>
                    <a:pt x="823976" y="24638"/>
                    <a:pt x="823976" y="54991"/>
                  </a:cubicBezTo>
                  <a:lnTo>
                    <a:pt x="823976" y="768985"/>
                  </a:lnTo>
                  <a:cubicBezTo>
                    <a:pt x="823976" y="799338"/>
                    <a:pt x="799338" y="823976"/>
                    <a:pt x="768985" y="823976"/>
                  </a:cubicBezTo>
                  <a:lnTo>
                    <a:pt x="54991" y="823976"/>
                  </a:lnTo>
                  <a:cubicBezTo>
                    <a:pt x="24638" y="823976"/>
                    <a:pt x="0" y="799338"/>
                    <a:pt x="0" y="768985"/>
                  </a:cubicBezTo>
                  <a:close/>
                </a:path>
              </a:pathLst>
            </a:custGeom>
            <a:solidFill>
              <a:srgbClr val="373433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887891" y="6344098"/>
            <a:ext cx="411956" cy="47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3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668788" y="6320285"/>
            <a:ext cx="3433315" cy="45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Evaluation Stage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68788" y="6958165"/>
            <a:ext cx="8667302" cy="51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Observe AI evaluation, manual scoring, and judge validation process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784897" y="8008591"/>
            <a:ext cx="617934" cy="617934"/>
            <a:chOff x="0" y="0"/>
            <a:chExt cx="823912" cy="8239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3976" cy="823976"/>
            </a:xfrm>
            <a:custGeom>
              <a:avLst/>
              <a:gdLst/>
              <a:ahLst/>
              <a:cxnLst/>
              <a:rect r="r" b="b" t="t" l="l"/>
              <a:pathLst>
                <a:path h="823976" w="823976">
                  <a:moveTo>
                    <a:pt x="0" y="54991"/>
                  </a:moveTo>
                  <a:cubicBezTo>
                    <a:pt x="0" y="24638"/>
                    <a:pt x="24638" y="0"/>
                    <a:pt x="54991" y="0"/>
                  </a:cubicBezTo>
                  <a:lnTo>
                    <a:pt x="768985" y="0"/>
                  </a:lnTo>
                  <a:cubicBezTo>
                    <a:pt x="799338" y="0"/>
                    <a:pt x="823976" y="24638"/>
                    <a:pt x="823976" y="54991"/>
                  </a:cubicBezTo>
                  <a:lnTo>
                    <a:pt x="823976" y="768985"/>
                  </a:lnTo>
                  <a:cubicBezTo>
                    <a:pt x="823976" y="799338"/>
                    <a:pt x="799338" y="823976"/>
                    <a:pt x="768985" y="823976"/>
                  </a:cubicBezTo>
                  <a:lnTo>
                    <a:pt x="54991" y="823976"/>
                  </a:lnTo>
                  <a:cubicBezTo>
                    <a:pt x="24638" y="823976"/>
                    <a:pt x="0" y="799338"/>
                    <a:pt x="0" y="768985"/>
                  </a:cubicBezTo>
                  <a:close/>
                </a:path>
              </a:pathLst>
            </a:custGeom>
            <a:solidFill>
              <a:srgbClr val="373433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7887891" y="8098184"/>
            <a:ext cx="411956" cy="47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3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668788" y="8074371"/>
            <a:ext cx="3433315" cy="45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Result Display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68788" y="8712251"/>
            <a:ext cx="8667302" cy="51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View final scores on dashboard with detailed feedback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2D2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193597"/>
            <a:ext cx="9445523" cy="182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Conclusion &amp; Future Roadmap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3693319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Current Achievements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4353077"/>
            <a:ext cx="4376890" cy="4031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Complete hackathon lifecycle system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Improved efficiency and transparency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Scalable and production-ready architecture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Real-world implementation capability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70397" y="3693319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Future Enhancements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70397" y="4353077"/>
            <a:ext cx="4376890" cy="458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Advanced AI evaluation models with ML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Automated ranking and leaderboard system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Comprehensive analytics dashboard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Real-time notification system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Integration with MSME platforms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DAHHYTL6k6o</dc:identifier>
  <dcterms:modified xsi:type="dcterms:W3CDTF">2011-08-01T06:04:30Z</dcterms:modified>
  <cp:revision>1</cp:revision>
  <dc:title>MSME-Hackathon-Innovation-Portal (1).pptx</dc:title>
</cp:coreProperties>
</file>