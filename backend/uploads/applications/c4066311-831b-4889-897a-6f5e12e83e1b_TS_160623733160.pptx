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82C783-8289-4E32-983B-365FE795EAEF}">
  <a:tblStyle styleId="{2182C783-8289-4E32-983B-365FE795EA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1401699" y="258254"/>
            <a:ext cx="9968230" cy="6546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5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None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STANLEY COLLEGE OF ENGINEERING AND TECHNOLGY FOR WOMEN (AUTONOMOUS)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imes New Roman"/>
              <a:buNone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Abids. Hyderabad – 500 001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886200" y="900747"/>
            <a:ext cx="5638800" cy="44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(Affiliated to Osmania University &amp; Approved by AICTE)</a:t>
            </a:r>
            <a:endParaRPr b="1" i="1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eligible UGC courses are accredited by NBA &amp; NAAC with ‘A’ Grade)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098675" y="1769998"/>
            <a:ext cx="8001000" cy="1005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00">
            <a:spAutoFit/>
          </a:bodyPr>
          <a:lstStyle/>
          <a:p>
            <a:pPr indent="-5080" lvl="0" marL="12700" marR="5080" rtl="0"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 of Computer Science and Engineering</a:t>
            </a:r>
            <a:endParaRPr/>
          </a:p>
          <a:p>
            <a:pPr indent="-5080" lvl="0" marL="12700" marR="5080" rtl="0" algn="ctr">
              <a:lnSpc>
                <a:spcPct val="117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Year: 2026-2027</a:t>
            </a:r>
            <a:endParaRPr/>
          </a:p>
          <a:p>
            <a:pPr indent="-5080" lvl="0" marL="12700" marR="5080" rtl="0" algn="ctr">
              <a:lnSpc>
                <a:spcPct val="117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B.E Technical Seminar Presentation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30675" y="3343910"/>
            <a:ext cx="3477260" cy="276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IN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and Context Optimization in Legal RAG Systems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330845" y="4643884"/>
            <a:ext cx="2317497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 Name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b="1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8034655" y="4524375"/>
            <a:ext cx="3300000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" lvl="0" marL="23495" marR="0" rtl="0" algn="l">
              <a:lnSpc>
                <a:spcPct val="109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Midde Puja</a:t>
            </a:r>
            <a:endParaRPr/>
          </a:p>
          <a:p>
            <a:pPr indent="-1270" lvl="0" marL="23495" marR="0" rtl="0" algn="l">
              <a:lnSpc>
                <a:spcPct val="109000"/>
              </a:lnSpc>
              <a:spcBef>
                <a:spcPts val="75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160623733160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649" y="234725"/>
            <a:ext cx="1027875" cy="13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1097280" y="286603"/>
            <a:ext cx="100584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Introduction to the Topic</a:t>
            </a:r>
            <a:endParaRPr/>
          </a:p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1097275" y="1845725"/>
            <a:ext cx="10844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74295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What is Retrieval-Augmented Generation (RAG)?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RAG combines a retrieval system with a large language model, fetching relevant external documents instead of relying only on the model's internal memory.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Why RAG was Developed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LLMs often hallucinate facts and have a fixed, limited context window; RAG grounds generation in real, retrievable evidence.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Relationship Between Retrieval and Generation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Retrieval supplies relevant context; the language model then generates an answer conditioned on that retrieved context.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Importance in Legal AI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Legal reasoning demands precise, source-grounded answers, making RAG essential for trustworthy Legal AI systems.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Architecture: User Query → Retrieval System → Relevant Documents → Large Language Model → Answer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1097275" y="1845725"/>
            <a:ext cx="107079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10000"/>
          </a:bodyPr>
          <a:lstStyle/>
          <a:p>
            <a:pPr indent="-65722" lvl="0" marL="9144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  <a:p>
            <a:pPr indent="-65722" lvl="0" marL="9144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157163" lvl="1" marL="384175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About the Topic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7163" lvl="1" marL="384175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Objectives of the Topic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5722" lvl="0" marL="9144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indent="-65722" lvl="0" marL="9144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Retrieval and Context Optimization</a:t>
            </a:r>
            <a:endParaRPr/>
          </a:p>
          <a:p>
            <a:pPr indent="-65722" lvl="0" marL="9144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  <a:p>
            <a:pPr indent="-65722" lvl="0" marL="9144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5722" lvl="0" marL="91440" rtl="0" algn="just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1097275" y="1845725"/>
            <a:ext cx="10683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82867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Artificial Intelligence and Large Language Models (LLMs) now generate fluent, human-like text but frequently hallucinate facts not grounded in real sources.</a:t>
            </a:r>
            <a:endParaRPr/>
          </a:p>
          <a:p>
            <a:pPr indent="-82867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addresses this by retrieving relevant documents and conditioning the LLM's response on that retrieved evidence.</a:t>
            </a:r>
            <a:endParaRPr/>
          </a:p>
          <a:p>
            <a:pPr indent="-82867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Legal AI applications demand exceptionally high factual accuracy, making hallucination a critical and unacceptable risk.</a:t>
            </a:r>
            <a:endParaRPr/>
          </a:p>
          <a:p>
            <a:pPr indent="-82867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This seminar studies Retrieval and Context Optimization techniques that improve the relevance of retrieved legal text.</a:t>
            </a:r>
            <a:endParaRPr/>
          </a:p>
          <a:p>
            <a:pPr indent="-82867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Context Optimization methods such as re-ranking, redundancy removal, and compression help fit the most useful information within the LLM's context window.</a:t>
            </a:r>
            <a:endParaRPr/>
          </a:p>
          <a:p>
            <a:pPr indent="-82867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Together, retrieval and context optimization make Legal RAG systems more accurate, reliable, and trustworthy for legal question answering.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1556980" y="1737359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10000"/>
          </a:bodyPr>
          <a:lstStyle/>
          <a:p>
            <a:pPr indent="-74295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The field of building systems that perform tasks normally requiring human intelligence, such as understanding language and reasoning.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Generative AI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 class of AI models that create new content — text, images, or code — rather than just analyzing existing data.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Large Language Models (LLMs)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Transformer-based models trained on massive text corpora, capable of understanding and generating natural language.</a:t>
            </a:r>
            <a:endParaRPr/>
          </a:p>
          <a:p>
            <a:pPr indent="-74295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Need for Legal AI</a:t>
            </a:r>
            <a:endParaRPr/>
          </a:p>
          <a:p>
            <a:pPr indent="-165735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Legal professionals must search vast volumes of statutes, case law, and contracts; AI can accelerate this while RAG keeps answers accurate.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1097275" y="286598"/>
            <a:ext cx="100584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About the Topic</a:t>
            </a:r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441775" y="1753875"/>
            <a:ext cx="11369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10000"/>
          </a:bodyPr>
          <a:lstStyle/>
          <a:p>
            <a:pPr indent="-68580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What is Retrieval and Context Optimization in Legal RAG Systems?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It refers to techniques that improve which legal text a RAG system retrieves, and how that retrieved text is filtered and arranged before being given to the LLM.</a:t>
            </a:r>
            <a:endParaRPr/>
          </a:p>
          <a:p>
            <a:pPr indent="-6858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Legal Documents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Statutes, case laws, and contracts are split into smaller chunks to make them searchable.</a:t>
            </a:r>
            <a:endParaRPr/>
          </a:p>
          <a:p>
            <a:pPr indent="-6858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Embeddings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Each chunk is converted into a numerical vector that captures its semantic meaning.</a:t>
            </a:r>
            <a:endParaRPr/>
          </a:p>
          <a:p>
            <a:pPr indent="-6858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Vector Databases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Embeddings are stored in vector databases such as FAISS, Pinecone, or Chroma for fast similarity search.</a:t>
            </a:r>
            <a:endParaRPr/>
          </a:p>
          <a:p>
            <a:pPr indent="-6858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The system finds the most semantically similar chunks to a user's legal query.</a:t>
            </a:r>
            <a:endParaRPr/>
          </a:p>
          <a:p>
            <a:pPr indent="-6858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600">
                <a:latin typeface="Times New Roman"/>
                <a:ea typeface="Times New Roman"/>
                <a:cs typeface="Times New Roman"/>
                <a:sym typeface="Times New Roman"/>
              </a:rPr>
              <a:t>Context Optimization</a:t>
            </a:r>
            <a:endParaRPr/>
          </a:p>
          <a:p>
            <a:pPr indent="-16002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Re-ranking, redundancy removal, and compression refine the retrieved chunks before they reach the LLM.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1097280" y="286603"/>
            <a:ext cx="10058400" cy="704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understand Retrieval-Augmented Generation and its working principles.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study existing Legal AI systems and their retrieval mechanisms.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analyze retrieval optimization methods such as HNSW and IVF indexing.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understand context optimization techniques including re-ranking and compression.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reduce hallucination in legal question answering through better grounding.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 explore future directions and real-world applications of Legal AI systems.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097280" y="286603"/>
            <a:ext cx="10058400" cy="7132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Literature Survey</a:t>
            </a:r>
            <a:endParaRPr/>
          </a:p>
        </p:txBody>
      </p:sp>
      <p:graphicFrame>
        <p:nvGraphicFramePr>
          <p:cNvPr id="149" name="Google Shape;149;p20"/>
          <p:cNvGraphicFramePr/>
          <p:nvPr/>
        </p:nvGraphicFramePr>
        <p:xfrm>
          <a:off x="1724351" y="189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{2182C783-8289-4E32-983B-365FE795EAEF}</a:tableStyleId>
              </a:tblPr>
              <a:tblGrid>
                <a:gridCol w="2864450"/>
                <a:gridCol w="63327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: Lewis et al., Retrieval-Augmented Generation for Knowledge-Intensive NLP Tasks, arXiv, 2020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Taken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hallucinate facts and cannot access knowledge beyond their training data.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Algorithm/Methodology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a neural retriever with a sequence-to-sequence generator, conditioning generation on retrieved passages.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Set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Wikipedia-based open-domain QA benchmarks (Natural Questions, TriviaQA).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Measures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 (EM) and F1 score on open-domain QA tasks.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Outperformed purely parametric LLMs on knowledge-intensive tasks.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 quality directly limits generation accuracy; not tuned for legal text.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097280" y="286603"/>
            <a:ext cx="10058400" cy="7132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Literature Survey</a:t>
            </a:r>
            <a:endParaRPr/>
          </a:p>
        </p:txBody>
      </p:sp>
      <p:graphicFrame>
        <p:nvGraphicFramePr>
          <p:cNvPr id="155" name="Google Shape;155;p21"/>
          <p:cNvGraphicFramePr/>
          <p:nvPr/>
        </p:nvGraphicFramePr>
        <p:xfrm>
          <a:off x="1724351" y="189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{2182C783-8289-4E32-983B-365FE795EAEF}</a:tableStyleId>
              </a:tblPr>
              <a:tblGrid>
                <a:gridCol w="2864450"/>
                <a:gridCol w="63327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: Kalra et al., HyPA-RAG: Hybrid Retrieval-Augmented Generation for Legal Applications, arXiv, 2024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Taken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RAG retrieval is imprecise for complex, structured legal queries.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Algorithm/Methodology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retrieval combining dense vector search with sparse keyword-based matching and adaptive parameter tuning.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Set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Legal statutes and regulatory question-answering dataset.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Measures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 precision/recall and answer correctness.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retrieval precision over single-method RAG baselines.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 computational overhead due to hybrid retrieval pipeline.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1097280" y="286603"/>
            <a:ext cx="10058400" cy="7132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Literature Survey</a:t>
            </a:r>
            <a:endParaRPr/>
          </a:p>
        </p:txBody>
      </p:sp>
      <p:graphicFrame>
        <p:nvGraphicFramePr>
          <p:cNvPr id="161" name="Google Shape;161;p22"/>
          <p:cNvGraphicFramePr/>
          <p:nvPr/>
        </p:nvGraphicFramePr>
        <p:xfrm>
          <a:off x="1724351" y="189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{2182C783-8289-4E32-983B-365FE795EAEF}</a:tableStyleId>
              </a:tblPr>
              <a:tblGrid>
                <a:gridCol w="2864450"/>
                <a:gridCol w="63327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: ResearchGate Authors, Legal Query RAG Framework for Question Answering, Research Paper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Taken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Legal question answering requires context-aware retrieval from large case law repositories.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Algorithm/Methodology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Query-aware RAG framework with semantic chunking and context filtering tailored to legal queries.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Set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 law and statute corpus.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Measures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Answer relevance and retrieval accuracy.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contextual relevance of retrieved legal passages.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Evaluated on a limited legal domain; generalization untested.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1097280" y="286603"/>
            <a:ext cx="10058400" cy="7132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Literature Survey</a:t>
            </a:r>
            <a:endParaRPr/>
          </a:p>
        </p:txBody>
      </p:sp>
      <p:graphicFrame>
        <p:nvGraphicFramePr>
          <p:cNvPr id="167" name="Google Shape;167;p23"/>
          <p:cNvGraphicFramePr/>
          <p:nvPr/>
        </p:nvGraphicFramePr>
        <p:xfrm>
          <a:off x="1724351" y="1890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{2182C783-8289-4E32-983B-365FE795EAEF}</a:tableStyleId>
              </a:tblPr>
              <a:tblGrid>
                <a:gridCol w="2864450"/>
                <a:gridCol w="633272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: Legal RAG Survey, Survey of Retrieval-Augmented Generation in Legal AI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Taken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a unified understanding of RAG techniques applied specifically to legal domains.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Algorithm/Methodology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Systematic survey and taxonomy of retrieval, chunking, and context optimization methods in Legal RAG.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Set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of multiple Legal RAG studies and benchmarks.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Measures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across accuracy, efficiency, and hallucination rate.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best practices for legal-domain retrieval optimization.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Survey-based; does not propose a new model.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1097280" y="286603"/>
            <a:ext cx="10058400" cy="704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Retrieval and Context Optimization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1097275" y="1845725"/>
            <a:ext cx="107598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83344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700">
                <a:latin typeface="Times New Roman"/>
                <a:ea typeface="Times New Roman"/>
                <a:cs typeface="Times New Roman"/>
                <a:sym typeface="Times New Roman"/>
              </a:rPr>
              <a:t>Workflow</a:t>
            </a:r>
            <a:endParaRPr/>
          </a:p>
          <a:p>
            <a:pPr indent="-174784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700">
                <a:latin typeface="Times New Roman"/>
                <a:ea typeface="Times New Roman"/>
                <a:cs typeface="Times New Roman"/>
                <a:sym typeface="Times New Roman"/>
              </a:rPr>
              <a:t>Legal Documents → Chunking → Embedding Generation → Vector Database → Query Retrieval → Context Optimization → LLM → Legal Answer</a:t>
            </a:r>
            <a:endParaRPr/>
          </a:p>
          <a:p>
            <a:pPr indent="-83344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700">
                <a:latin typeface="Times New Roman"/>
                <a:ea typeface="Times New Roman"/>
                <a:cs typeface="Times New Roman"/>
                <a:sym typeface="Times New Roman"/>
              </a:rPr>
              <a:t>Retrieval Optimization</a:t>
            </a:r>
            <a:endParaRPr/>
          </a:p>
          <a:p>
            <a:pPr indent="-174784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700">
                <a:latin typeface="Times New Roman"/>
                <a:ea typeface="Times New Roman"/>
                <a:cs typeface="Times New Roman"/>
                <a:sym typeface="Times New Roman"/>
              </a:rPr>
              <a:t>Similarity metrics (cosine, dot product) and indexing methods like HNSW and IVF speed up and improve retrieval accuracy.</a:t>
            </a:r>
            <a:endParaRPr/>
          </a:p>
          <a:p>
            <a:pPr indent="-83344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700">
                <a:latin typeface="Times New Roman"/>
                <a:ea typeface="Times New Roman"/>
                <a:cs typeface="Times New Roman"/>
                <a:sym typeface="Times New Roman"/>
              </a:rPr>
              <a:t>Context Optimization Techniques</a:t>
            </a:r>
            <a:endParaRPr/>
          </a:p>
          <a:p>
            <a:pPr indent="-174784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700">
                <a:latin typeface="Times New Roman"/>
                <a:ea typeface="Times New Roman"/>
                <a:cs typeface="Times New Roman"/>
                <a:sym typeface="Times New Roman"/>
              </a:rPr>
              <a:t>Top-k retrieval selects the most relevant chunks; re-ranking improves their order; redundancy removal eliminates duplicates; context compression fits results within token limits.</a:t>
            </a:r>
            <a:endParaRPr/>
          </a:p>
          <a:p>
            <a:pPr indent="-83344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IN" sz="1700"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/>
          </a:p>
          <a:p>
            <a:pPr indent="-174784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IN" sz="1700">
                <a:latin typeface="Times New Roman"/>
                <a:ea typeface="Times New Roman"/>
                <a:cs typeface="Times New Roman"/>
                <a:sym typeface="Times New Roman"/>
              </a:rPr>
              <a:t>Optimized retrieval and context together reduce hallucination and improve the accuracy of legal answers.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1097280" y="286603"/>
            <a:ext cx="10058400" cy="7047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Real-World Applications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Legal Research Assistants</a:t>
            </a:r>
            <a:endParaRPr/>
          </a:p>
          <a:p>
            <a:pPr indent="-18288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Automated systems that help legal professionals conduct case law research faster and more accurately.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Contract Analysis</a:t>
            </a:r>
            <a:endParaRPr/>
          </a:p>
          <a:p>
            <a:pPr indent="-18288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Tools that analyze complex contractual agreements and identify key clauses automatically.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Case Law Retrieval</a:t>
            </a:r>
            <a:endParaRPr/>
          </a:p>
          <a:p>
            <a:pPr indent="-18288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Systems that retrieve the most relevant precedents from extensive case law databases.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b="1" lang="en-IN" sz="1800">
                <a:latin typeface="Times New Roman"/>
                <a:ea typeface="Times New Roman"/>
                <a:cs typeface="Times New Roman"/>
                <a:sym typeface="Times New Roman"/>
              </a:rPr>
              <a:t>Enterprise Knowledge Systems</a:t>
            </a:r>
            <a:endParaRPr/>
          </a:p>
          <a:p>
            <a:pPr indent="-182880" lvl="1" marL="384175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AI assistants that access internal legal document repositories to answer organizational legal queries.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RAG improves factual accuracy by grounding LLM responses in retrieved, real documents.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Retrieval optimization improves the relevance of retrieved legal content.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Context optimization reduces hallucination by filtering and compressing retrieved context before generation.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Together, these techniques make Legal RAG systems more reliable for legal research and question answering.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1097275" y="286597"/>
            <a:ext cx="101724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t/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[1] P. Lewis et al., “Retrieval-Augmented Generation for Knowledge-Intensive NLP Tasks,” arXiv (Original RAG Paper), 2020.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[2] Kalra et al., “HyPA-RAG: Hybrid Retrieval-Augmented Generation for Legal Applications,” arXiv:2409.09046, 2024.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[3] ResearchGate Authors, “Legal Query RAG Framework for Question Answering,” Research Paper, ResearchGate Publication 389012050.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[4] Hindi et al., “Enhancing Precision of Retrieval-Augmented Generation in Legal AI,” IEEE Access, 2025.</a:t>
            </a:r>
            <a:endParaRPr/>
          </a:p>
          <a:p>
            <a:pPr indent="-91440" lvl="0" marL="91440" rtl="0" algn="just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Times New Roman"/>
                <a:ea typeface="Times New Roman"/>
                <a:cs typeface="Times New Roman"/>
                <a:sym typeface="Times New Roman"/>
              </a:rPr>
              <a:t>[5] K. D. Ashley, Artificial Intelligence and Legal Analytics, Springer Book, 2017.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1457175" y="2150475"/>
            <a:ext cx="9342300" cy="2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40000"/>
              <a:buNone/>
            </a:pPr>
            <a:r>
              <a:rPr lang="en-IN" sz="12000"/>
              <a:t>     </a:t>
            </a:r>
            <a:endParaRPr sz="12000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40000"/>
              <a:buNone/>
            </a:pPr>
            <a:r>
              <a:rPr lang="en-IN" sz="12000"/>
              <a:t>      </a:t>
            </a:r>
            <a:endParaRPr sz="18209"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26361"/>
              <a:buFont typeface="Calibri"/>
              <a:buNone/>
            </a:pPr>
            <a:r>
              <a:rPr lang="en-IN" sz="18209"/>
              <a:t>     </a:t>
            </a:r>
            <a:r>
              <a:rPr lang="en-IN" sz="18209"/>
              <a:t>Thank You</a:t>
            </a:r>
            <a:endParaRPr sz="1820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